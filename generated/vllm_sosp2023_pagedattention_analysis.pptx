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658368"/>
            <a:ext cx="89611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72B4D"/>
                </a:solidFill>
                <a:latin typeface="Microsoft YaHei"/>
              </a:rPr>
              <a:t>vLLM 推理流程及其性能增益可视化分析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53312"/>
            <a:ext cx="7498079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基于 PagedAttention 的高吞吐量 LLM 服务系统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254496"/>
            <a:ext cx="4389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Reference: Kwon et al., SOSP 2023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926080"/>
            <a:ext cx="1600200" cy="7498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B4D"/>
                </a:solidFill>
                <a:latin typeface="Microsoft YaHei"/>
              </a:rPr>
              <a:t>用户请求
Prompt + sampling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2926080"/>
            <a:ext cx="1600200" cy="7498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B4D"/>
                </a:solidFill>
                <a:latin typeface="Microsoft YaHei"/>
              </a:rPr>
              <a:t>vLLM Engine
Scheduler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2926080"/>
            <a:ext cx="1600200" cy="7498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B4D"/>
                </a:solidFill>
                <a:latin typeface="Microsoft YaHei"/>
              </a:rPr>
              <a:t>PagedAttention
KV Cache paging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926080"/>
            <a:ext cx="1600200" cy="7498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B4D"/>
                </a:solidFill>
                <a:latin typeface="Microsoft YaHei"/>
              </a:rPr>
              <a:t>A100 GPU
High utilization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05456" y="3300984"/>
            <a:ext cx="411480" cy="0"/>
          </a:xfrm>
          <a:prstGeom prst="line">
            <a:avLst/>
          </a:prstGeom>
          <a:ln w="254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ght Triangle 9"/>
          <p:cNvSpPr/>
          <p:nvPr/>
        </p:nvSpPr>
        <p:spPr>
          <a:xfrm>
            <a:off x="2852928" y="3218688"/>
            <a:ext cx="146304" cy="164592"/>
          </a:xfrm>
          <a:prstGeom prst="rtTriangl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700016" y="3300984"/>
            <a:ext cx="411480" cy="0"/>
          </a:xfrm>
          <a:prstGeom prst="line">
            <a:avLst/>
          </a:prstGeom>
          <a:ln w="254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Triangle 11"/>
          <p:cNvSpPr/>
          <p:nvPr/>
        </p:nvSpPr>
        <p:spPr>
          <a:xfrm>
            <a:off x="5047488" y="3218688"/>
            <a:ext cx="146304" cy="164592"/>
          </a:xfrm>
          <a:prstGeom prst="rtTriangl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894576" y="3300984"/>
            <a:ext cx="411480" cy="0"/>
          </a:xfrm>
          <a:prstGeom prst="line">
            <a:avLst/>
          </a:prstGeom>
          <a:ln w="254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ight Triangle 13"/>
          <p:cNvSpPr/>
          <p:nvPr/>
        </p:nvSpPr>
        <p:spPr>
          <a:xfrm>
            <a:off x="7242048" y="3218688"/>
            <a:ext cx="146304" cy="164592"/>
          </a:xfrm>
          <a:prstGeom prst="rtTriangl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25712" y="2816352"/>
            <a:ext cx="1993392" cy="9601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输出 Tokens
22-28x vs HF
2-3x vs 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874519"/>
            <a:ext cx="6675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6 分钟学术演示 · 8 页 · 数据基于官方论文/博客披露结论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201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YaHei"/>
              </a:rPr>
              <a:t>1/8  |  Reference: Kwon et al., Efficient Memory Management for LLM Serving with PagedAttention, SOSP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KV Cache limits batch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9611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背景：LLM 推理中的内存瓶颈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42415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201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YaHei"/>
              </a:rPr>
              <a:t>2/8  |  Reference: Kwon et al., Efficient Memory Management for LLM Serving with PagedAttention, SOSP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72B4D"/>
                </a:solidFill>
                <a:latin typeface="Microsoft YaHei"/>
              </a:rPr>
              <a:t>• 自回归解码中，每生成一个 token 都会追加 Key/Value 张量。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72B4D"/>
                </a:solidFill>
                <a:latin typeface="Microsoft YaHei"/>
              </a:rPr>
              <a:t>• KV Cache 随序列长度与并发请求线性增长，迅速占满 GPU memory。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72B4D"/>
                </a:solidFill>
                <a:latin typeface="Microsoft YaHei"/>
              </a:rPr>
              <a:t>• 传统连续分配需要预估最大输出长度，碎片化与预留空间压缩可用 Batch Size。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5257800"/>
            <a:ext cx="992124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2670048"/>
            <a:ext cx="0" cy="2587752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43000" y="5257800"/>
            <a:ext cx="996696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088" y="5184648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633722"/>
            <a:ext cx="996696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088" y="4560570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25%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4009644"/>
            <a:ext cx="996696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4088" y="3936491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50%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3385565"/>
            <a:ext cx="996696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4088" y="3312413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75%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43000" y="2761487"/>
            <a:ext cx="996696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4088" y="2688335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4633722"/>
            <a:ext cx="1051560" cy="62407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4872608"/>
            <a:ext cx="1051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Microsoft YaHei"/>
              </a:rPr>
              <a:t>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4009644"/>
            <a:ext cx="1051560" cy="624078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4248531"/>
            <a:ext cx="1051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Microsoft YaHei"/>
              </a:rPr>
              <a:t>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3510381"/>
            <a:ext cx="1051560" cy="499262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3686860"/>
            <a:ext cx="1051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Microsoft YaHei"/>
              </a:rPr>
              <a:t>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2761487"/>
            <a:ext cx="1051560" cy="748893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3062782"/>
            <a:ext cx="1051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Microsoft YaHei"/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440680"/>
            <a:ext cx="1508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72B4D"/>
                </a:solidFill>
                <a:latin typeface="Microsoft YaHei"/>
              </a:rPr>
              <a:t>传统连续分配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2861340"/>
            <a:ext cx="1051560" cy="2396459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3986418"/>
            <a:ext cx="1051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Microsoft YaHei"/>
              </a:rPr>
              <a:t>96%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69080" y="2811414"/>
            <a:ext cx="1051560" cy="49926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69080" y="2786451"/>
            <a:ext cx="1051560" cy="24963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69080" y="2761487"/>
            <a:ext cx="1051560" cy="24963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5440680"/>
            <a:ext cx="1508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72B4D"/>
                </a:solidFill>
                <a:latin typeface="Microsoft YaHei"/>
              </a:rPr>
              <a:t>vLLM / PagedAttention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7800" y="2843784"/>
            <a:ext cx="10972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4104" y="2807208"/>
            <a:ext cx="1325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74151"/>
                </a:solidFill>
                <a:latin typeface="Microsoft YaHei"/>
              </a:rPr>
              <a:t>有效 KV Cache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2843784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424" y="2807208"/>
            <a:ext cx="1325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74151"/>
                </a:solidFill>
                <a:latin typeface="Microsoft YaHei"/>
              </a:rPr>
              <a:t>Internal fragmentation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2843784"/>
            <a:ext cx="10972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38744" y="2807208"/>
            <a:ext cx="1325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74151"/>
                </a:solidFill>
                <a:latin typeface="Microsoft YaHei"/>
              </a:rPr>
              <a:t>External fragmentation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760" y="2843784"/>
            <a:ext cx="109728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56064" y="2807208"/>
            <a:ext cx="1325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74151"/>
                </a:solidFill>
                <a:latin typeface="Microsoft YaHei"/>
              </a:rPr>
              <a:t>Reservation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800" y="3630168"/>
            <a:ext cx="3566160" cy="6949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72B4D"/>
                </a:solidFill>
                <a:latin typeface="Microsoft YaHei"/>
              </a:rPr>
              <a:t>论文结论：传统 KV Cache 管理因碎片化与预留策略浪费 60%-80%；vLLM 仅末块可能浪费，实测 &lt;4%。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Logical blocks -&gt; Physical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9611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核心机制：PagedAttention 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42415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201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YaHei"/>
              </a:rPr>
              <a:t>3/8  |  Reference: Kwon et al., Efficient Memory Management for LLM Serving with PagedAttention, SOSP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07008"/>
            <a:ext cx="9052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74151"/>
                </a:solidFill>
                <a:latin typeface="Microsoft YaHei"/>
              </a:rPr>
              <a:t>思想类比操作系统虚拟内存：请求看到连续 logical blocks；GPU 中实际 KV Cache blocks 可非连续存放。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92224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B4D"/>
                </a:solidFill>
                <a:latin typeface="Microsoft YaHei"/>
              </a:rPr>
              <a:t>Sequence A Logical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84831"/>
            <a:ext cx="5029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B4D"/>
                </a:solidFill>
                <a:latin typeface="Microsoft YaHei"/>
              </a:rPr>
              <a:t>L0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36192" y="2084831"/>
            <a:ext cx="5029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B4D"/>
                </a:solidFill>
                <a:latin typeface="Microsoft YaHei"/>
              </a:rPr>
              <a:t>L1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2084831"/>
            <a:ext cx="5029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B4D"/>
                </a:solidFill>
                <a:latin typeface="Microsoft YaHei"/>
              </a:rPr>
              <a:t>L2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2084831"/>
            <a:ext cx="5029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B4D"/>
                </a:solidFill>
                <a:latin typeface="Microsoft YaHei"/>
              </a:rP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1664208"/>
            <a:ext cx="2468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B4D"/>
                </a:solidFill>
                <a:latin typeface="Microsoft YaHei"/>
              </a:rPr>
              <a:t>Block Table / Page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993392"/>
            <a:ext cx="6217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72B4D"/>
                </a:solidFill>
                <a:latin typeface="Microsoft YaHei"/>
              </a:rPr>
              <a:t>L0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90872" y="1993392"/>
            <a:ext cx="749808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172B4D"/>
                </a:solidFill>
                <a:latin typeface="Microsoft YaHei"/>
              </a:rPr>
              <a:t>P7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2414016"/>
            <a:ext cx="6217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72B4D"/>
                </a:solidFill>
                <a:latin typeface="Microsoft YaHei"/>
              </a:rPr>
              <a:t>L1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0872" y="2414016"/>
            <a:ext cx="749808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172B4D"/>
                </a:solidFill>
                <a:latin typeface="Microsoft YaHei"/>
              </a:rPr>
              <a:t>P2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2834640"/>
            <a:ext cx="6217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72B4D"/>
                </a:solidFill>
                <a:latin typeface="Microsoft YaHei"/>
              </a:rPr>
              <a:t>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834640"/>
            <a:ext cx="749808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172B4D"/>
                </a:solidFill>
                <a:latin typeface="Microsoft YaHei"/>
              </a:rPr>
              <a:t>P9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3255264"/>
            <a:ext cx="6217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72B4D"/>
                </a:solidFill>
                <a:latin typeface="Microsoft YaHei"/>
              </a:rPr>
              <a:t>L3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90872" y="3255264"/>
            <a:ext cx="749808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172B4D"/>
                </a:solidFill>
                <a:latin typeface="Microsoft YaHei"/>
              </a:rPr>
              <a:t>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792224"/>
            <a:ext cx="2926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B4D"/>
                </a:solidFill>
                <a:latin typeface="Microsoft YaHei"/>
              </a:rPr>
              <a:t>Physical KV Block Pool on GPU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14032" y="2084831"/>
            <a:ext cx="475488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084831"/>
            <a:ext cx="475488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30768" y="2084831"/>
            <a:ext cx="475488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9136" y="2084831"/>
            <a:ext cx="475488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14032" y="2596896"/>
            <a:ext cx="475488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2596896"/>
            <a:ext cx="475488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0768" y="2596896"/>
            <a:ext cx="475488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2596896"/>
            <a:ext cx="475488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14032" y="3108960"/>
            <a:ext cx="475488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3108960"/>
            <a:ext cx="475488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30768" y="3108960"/>
            <a:ext cx="475488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9136" y="3108960"/>
            <a:ext cx="475488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72B4D"/>
                </a:solidFill>
                <a:latin typeface="Microsoft YaHei"/>
              </a:rPr>
              <a:t>P11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3639312" y="2139696"/>
            <a:ext cx="338327" cy="13716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39312" y="2276856"/>
            <a:ext cx="338327" cy="283464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39312" y="2276856"/>
            <a:ext cx="338327" cy="704088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32120" y="2139696"/>
            <a:ext cx="1435608" cy="841248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532120" y="2468880"/>
            <a:ext cx="1435608" cy="9144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32120" y="2980944"/>
            <a:ext cx="1435608" cy="512064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60120" y="4617720"/>
            <a:ext cx="27432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B4D"/>
                </a:solidFill>
                <a:latin typeface="Microsoft YaHei"/>
              </a:rPr>
              <a:t>按需分配
只为已生成 tokens 申请 block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34840" y="4617720"/>
            <a:ext cx="2743200" cy="502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B4D"/>
                </a:solidFill>
                <a:latin typeface="Microsoft YaHei"/>
              </a:rPr>
              <a:t>非连续存储
Page table 维护映射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4617720"/>
            <a:ext cx="274320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B4D"/>
                </a:solidFill>
                <a:latin typeface="Microsoft YaHei"/>
              </a:rPr>
              <a:t>末块浪费
实测 memory waste &lt;4%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Scheduler + Block Manager + Kernels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9611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vLLM 推理全流程解析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42415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201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YaHei"/>
              </a:rPr>
              <a:t>4/8  |  Reference: Kwon et al., Efficient Memory Management for LLM Serving with PagedAttention, SOSP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07008"/>
            <a:ext cx="85953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74151"/>
                </a:solidFill>
                <a:latin typeface="Microsoft YaHei"/>
              </a:rPr>
              <a:t>连续 batching 与 PagedAttention 共同作用：调度层扩大有效 Batch，内存层保持 KV Cache 紧凑。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67712"/>
            <a:ext cx="1600200" cy="7132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80" b="1">
                <a:solidFill>
                  <a:srgbClr val="172B4D"/>
                </a:solidFill>
                <a:latin typeface="Microsoft YaHei"/>
              </a:rPr>
              <a:t>1. Request Queue
输入请求进入等待队列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58568" y="2624328"/>
            <a:ext cx="466343" cy="0"/>
          </a:xfrm>
          <a:prstGeom prst="line">
            <a:avLst/>
          </a:prstGeom>
          <a:ln w="2286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>
            <a:off x="2651760" y="2551176"/>
            <a:ext cx="128016" cy="146304"/>
          </a:xfrm>
          <a:prstGeom prst="rtTriangl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39" y="2267712"/>
            <a:ext cx="1600200" cy="71323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80" b="1">
                <a:solidFill>
                  <a:srgbClr val="172B4D"/>
                </a:solidFill>
                <a:latin typeface="Microsoft YaHei"/>
              </a:rPr>
              <a:t>2. Scheduler
选择可运行序列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34840" y="2624328"/>
            <a:ext cx="466343" cy="0"/>
          </a:xfrm>
          <a:prstGeom prst="line">
            <a:avLst/>
          </a:prstGeom>
          <a:ln w="2286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Triangle 11"/>
          <p:cNvSpPr/>
          <p:nvPr/>
        </p:nvSpPr>
        <p:spPr>
          <a:xfrm>
            <a:off x="4828031" y="2551176"/>
            <a:ext cx="128016" cy="146304"/>
          </a:xfrm>
          <a:prstGeom prst="rtTriangl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10912" y="2267712"/>
            <a:ext cx="1600200" cy="7132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80" b="1">
                <a:solidFill>
                  <a:srgbClr val="172B4D"/>
                </a:solidFill>
                <a:latin typeface="Microsoft YaHei"/>
              </a:rPr>
              <a:t>3. Block Manager
申请/释放 physical blocks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11112" y="2624328"/>
            <a:ext cx="466343" cy="0"/>
          </a:xfrm>
          <a:prstGeom prst="line">
            <a:avLst/>
          </a:prstGeom>
          <a:ln w="2286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ght Triangle 14"/>
          <p:cNvSpPr/>
          <p:nvPr/>
        </p:nvSpPr>
        <p:spPr>
          <a:xfrm>
            <a:off x="7004304" y="2551176"/>
            <a:ext cx="128016" cy="146304"/>
          </a:xfrm>
          <a:prstGeom prst="rtTriangl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87183" y="2267712"/>
            <a:ext cx="1600200" cy="71323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80" b="1">
                <a:solidFill>
                  <a:srgbClr val="172B4D"/>
                </a:solidFill>
                <a:latin typeface="Microsoft YaHei"/>
              </a:rPr>
              <a:t>4. PagedAttention Kernel
按 block table 读取 KV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87384" y="2624328"/>
            <a:ext cx="466344" cy="0"/>
          </a:xfrm>
          <a:prstGeom prst="line">
            <a:avLst/>
          </a:prstGeom>
          <a:ln w="2286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ight Triangle 17"/>
          <p:cNvSpPr/>
          <p:nvPr/>
        </p:nvSpPr>
        <p:spPr>
          <a:xfrm>
            <a:off x="9180576" y="2551176"/>
            <a:ext cx="128016" cy="146304"/>
          </a:xfrm>
          <a:prstGeom prst="rtTriangl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63456" y="2267712"/>
            <a:ext cx="1600200" cy="7132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80" b="1">
                <a:solidFill>
                  <a:srgbClr val="172B4D"/>
                </a:solidFill>
                <a:latin typeface="Microsoft YaHei"/>
              </a:rPr>
              <a:t>5. Token Output
生成 token 并回写状态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55480" y="3090672"/>
            <a:ext cx="0" cy="932688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444752" y="4023360"/>
            <a:ext cx="8110728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444752" y="3081528"/>
            <a:ext cx="0" cy="941832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154680" y="4096512"/>
            <a:ext cx="4389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374151"/>
                </a:solidFill>
                <a:latin typeface="Microsoft YaHei"/>
              </a:rPr>
              <a:t>decode loop: 新 token 触发下一轮调度与 block 映射更新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" y="473659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72B4D"/>
                </a:solidFill>
                <a:latin typeface="Microsoft YaHei"/>
              </a:rPr>
              <a:t>吞吐来源 1
Continuous batching 提高 GPU occupancy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73659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72B4D"/>
                </a:solidFill>
                <a:latin typeface="Microsoft YaHei"/>
              </a:rPr>
              <a:t>吞吐来源 2
Paged KV Cache 提高可容纳并发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473659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72B4D"/>
                </a:solidFill>
                <a:latin typeface="Microsoft YaHei"/>
              </a:rPr>
              <a:t>吞吐来源 3
Kernel 直接消费 block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Throughput vs HF / 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9611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性能分析：吞吐量增益（官方核心结论）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42415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201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YaHei"/>
              </a:rPr>
              <a:t>5/8  |  Reference: Kwon et al., Efficient Memory Management for LLM Serving with PagedAttention, SOSP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07008"/>
            <a:ext cx="9098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74151"/>
                </a:solidFill>
                <a:latin typeface="Microsoft YaHei"/>
              </a:rPr>
              <a:t>柱状图采用官方披露倍率校准的 req/min 示意：vLLM 相比 HF 约 22-28x，相比 FT 约 2-3x。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08176" y="5020056"/>
            <a:ext cx="9052559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08176" y="1883664"/>
            <a:ext cx="0" cy="3136392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08176" y="5020056"/>
            <a:ext cx="9052559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946904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08176" y="4281678"/>
            <a:ext cx="9052559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420852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70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08176" y="3543300"/>
            <a:ext cx="9052559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470148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140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08176" y="2804922"/>
            <a:ext cx="9052559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2731770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210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08176" y="2066543"/>
            <a:ext cx="9052559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1993391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83664" y="4914573"/>
            <a:ext cx="256032" cy="105482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47088" y="4731693"/>
            <a:ext cx="32918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3965230"/>
            <a:ext cx="256032" cy="105482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76272" y="3782350"/>
            <a:ext cx="32918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2032" y="2277509"/>
            <a:ext cx="256032" cy="2742546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05456" y="2094629"/>
            <a:ext cx="32918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5129784"/>
            <a:ext cx="9601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4D"/>
                </a:solidFill>
                <a:latin typeface="Microsoft YaHei"/>
              </a:rPr>
              <a:t>Llama-7B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9944" y="4935669"/>
            <a:ext cx="256032" cy="84386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4752789"/>
            <a:ext cx="32918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39128" y="4281678"/>
            <a:ext cx="256032" cy="738378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4098798"/>
            <a:ext cx="32918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70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68312" y="3015887"/>
            <a:ext cx="256032" cy="200416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1736" y="2833007"/>
            <a:ext cx="32918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190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5129784"/>
            <a:ext cx="9601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4D"/>
                </a:solidFill>
                <a:latin typeface="Microsoft YaHei"/>
              </a:rPr>
              <a:t>OPT-13B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6248" y="1783080"/>
            <a:ext cx="109728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02552" y="1746504"/>
            <a:ext cx="1325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74151"/>
                </a:solidFill>
                <a:latin typeface="Microsoft YaHei"/>
              </a:rPr>
              <a:t>HF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73568" y="1783080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2" y="1746504"/>
            <a:ext cx="1325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74151"/>
                </a:solidFill>
                <a:latin typeface="Microsoft YaHei"/>
              </a:rPr>
              <a:t>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90888" y="1783080"/>
            <a:ext cx="10972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37192" y="1746504"/>
            <a:ext cx="1325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74151"/>
                </a:solidFill>
                <a:latin typeface="Microsoft YaHei"/>
              </a:rPr>
              <a:t>vLLM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7088" y="5449824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374151"/>
                </a:solidFill>
                <a:latin typeface="Microsoft YaHei"/>
              </a:rPr>
              <a:t>Throughput (req/min, 论文倍率校准示意)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3648" y="2340864"/>
            <a:ext cx="1417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vLLM vs HF
Llama-7B: 26x
OPT-13B: 23.8x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96528" y="3072384"/>
            <a:ext cx="1051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Microsoft YaHei"/>
              </a:rPr>
              <a:t>vLLM vs FT
2.6x / 2.7x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87968" y="5285232"/>
            <a:ext cx="1993392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374151"/>
                </a:solidFill>
                <a:latin typeface="Microsoft YaHei"/>
              </a:rPr>
              <a:t>A100 80GB · Llama/OPT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Memory waste 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9611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性能分析：内存浪费率对比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42415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201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YaHei"/>
              </a:rPr>
              <a:t>6/8  |  Reference: Kwon et al., Efficient Memory Management for LLM Serving with PagedAttention, SOSP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07008"/>
            <a:ext cx="9326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74151"/>
                </a:solidFill>
                <a:latin typeface="Microsoft YaHei"/>
              </a:rPr>
              <a:t>vLLM 的核心收益不是减少模型权重，而是将动态 KV Cache 管理从连续预留改为分页式按需分配。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2011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72B4D"/>
                </a:solidFill>
                <a:latin typeface="Microsoft YaHei"/>
              </a:rPr>
              <a:t>传统框架
HF / FT 风格连续管理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36392" y="2359152"/>
            <a:ext cx="7132320" cy="31089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36392" y="2359152"/>
            <a:ext cx="6240780" cy="310896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86900" y="2377440"/>
            <a:ext cx="868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60%-80%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56432"/>
            <a:ext cx="2011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72B4D"/>
                </a:solidFill>
                <a:latin typeface="Microsoft YaHei"/>
              </a:rPr>
              <a:t>vLLM
PagedAttention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36392" y="3502152"/>
            <a:ext cx="7132320" cy="31089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36392" y="3502152"/>
            <a:ext cx="356616" cy="310896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3520440"/>
            <a:ext cx="868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A34A"/>
                </a:solidFill>
                <a:latin typeface="Microsoft YaHei"/>
              </a:rPr>
              <a:t>&lt;4%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36392" y="4846319"/>
            <a:ext cx="713232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6392" y="4782312"/>
            <a:ext cx="0" cy="118871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71800" y="4956047"/>
            <a:ext cx="32918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19472" y="4782312"/>
            <a:ext cx="0" cy="118871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0" y="4956047"/>
            <a:ext cx="32918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02552" y="4782312"/>
            <a:ext cx="0" cy="118871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37960" y="4956047"/>
            <a:ext cx="32918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40%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85632" y="4782312"/>
            <a:ext cx="0" cy="118871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21040" y="4956047"/>
            <a:ext cx="32918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60%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68712" y="4782312"/>
            <a:ext cx="0" cy="118871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04120" y="4956047"/>
            <a:ext cx="32918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599431"/>
            <a:ext cx="9427464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72B4D"/>
                </a:solidFill>
                <a:latin typeface="Microsoft YaHei"/>
              </a:rPr>
              <a:t>关键原因：PagedAttention 以固定大小 block 按需分配 KV Cache，避免为未知输出长度做大块连续预留。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5422392"/>
            <a:ext cx="242316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B4D"/>
                </a:solidFill>
                <a:latin typeface="Microsoft YaHei"/>
              </a:rPr>
              <a:t>结果：更大 Batch Size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5422392"/>
            <a:ext cx="242316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B4D"/>
                </a:solidFill>
                <a:latin typeface="Microsoft YaHei"/>
              </a:rPr>
              <a:t>结果：更高 GPU 利用率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5422392"/>
            <a:ext cx="242316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B4D"/>
                </a:solidFill>
                <a:latin typeface="Microsoft YaHei"/>
              </a:rPr>
              <a:t>结果：更低服务成本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Long sequence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9611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性能分析：不同序列长度下的表现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42415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201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YaHei"/>
              </a:rPr>
              <a:t>7/8  |  Reference: Kwon et al., Efficient Memory Management for LLM Serving with PagedAttention, SOSP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07008"/>
            <a:ext cx="9509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74151"/>
                </a:solidFill>
                <a:latin typeface="Microsoft YaHei"/>
              </a:rPr>
              <a:t>论文指出：序列更长、模型更大、解码更复杂时，内存管理优势更明显；下图展示长文本下的时延增长趋势。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35607" y="5148072"/>
            <a:ext cx="9098281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35607" y="1865376"/>
            <a:ext cx="0" cy="3282696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35607" y="5148072"/>
            <a:ext cx="909828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5074920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35607" y="4327398"/>
            <a:ext cx="909828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4254246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300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35607" y="3506724"/>
            <a:ext cx="909828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2688" y="343357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600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35607" y="2686050"/>
            <a:ext cx="909828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2612898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900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35607" y="1865376"/>
            <a:ext cx="909828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2688" y="1792224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1200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35607" y="5148072"/>
            <a:ext cx="0" cy="64008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07007" y="5266944"/>
            <a:ext cx="457200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512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10177" y="5148072"/>
            <a:ext cx="0" cy="64008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81577" y="5266944"/>
            <a:ext cx="457200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1024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4748" y="5148072"/>
            <a:ext cx="0" cy="64008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56148" y="5266944"/>
            <a:ext cx="457200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2048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59317" y="5148072"/>
            <a:ext cx="0" cy="64008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30717" y="5266944"/>
            <a:ext cx="457200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4096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33888" y="5148072"/>
            <a:ext cx="0" cy="64008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305288" y="5266944"/>
            <a:ext cx="457200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74151"/>
                </a:solidFill>
                <a:latin typeface="Microsoft YaHei"/>
              </a:rPr>
              <a:t>8192</a:t>
            </a:r>
          </a:p>
        </p:txBody>
      </p:sp>
      <p:sp>
        <p:nvSpPr>
          <p:cNvPr id="29" name="Oval 28"/>
          <p:cNvSpPr/>
          <p:nvPr/>
        </p:nvSpPr>
        <p:spPr>
          <a:xfrm>
            <a:off x="1394460" y="4956467"/>
            <a:ext cx="82296" cy="82296"/>
          </a:xfrm>
          <a:prstGeom prst="ellipse">
            <a:avLst/>
          </a:prstGeom>
          <a:solidFill>
            <a:srgbClr val="6B72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69029" y="4833366"/>
            <a:ext cx="82296" cy="82296"/>
          </a:xfrm>
          <a:prstGeom prst="ellipse">
            <a:avLst/>
          </a:prstGeom>
          <a:solidFill>
            <a:srgbClr val="6B72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43600" y="4532452"/>
            <a:ext cx="82296" cy="82296"/>
          </a:xfrm>
          <a:prstGeom prst="ellipse">
            <a:avLst/>
          </a:prstGeom>
          <a:solidFill>
            <a:srgbClr val="6B72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18169" y="3739133"/>
            <a:ext cx="82296" cy="82296"/>
          </a:xfrm>
          <a:prstGeom prst="ellipse">
            <a:avLst/>
          </a:prstGeom>
          <a:solidFill>
            <a:srgbClr val="6B72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92740" y="2097786"/>
            <a:ext cx="82296" cy="82296"/>
          </a:xfrm>
          <a:prstGeom prst="ellipse">
            <a:avLst/>
          </a:prstGeom>
          <a:solidFill>
            <a:srgbClr val="6B72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1435607" y="4874514"/>
            <a:ext cx="2274570" cy="123101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710177" y="4573600"/>
            <a:ext cx="2274571" cy="300914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984748" y="3780281"/>
            <a:ext cx="2274569" cy="793319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259317" y="2138934"/>
            <a:ext cx="2274571" cy="1641347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394460" y="5011178"/>
            <a:ext cx="82296" cy="82296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69029" y="4937318"/>
            <a:ext cx="82296" cy="82296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43600" y="4751298"/>
            <a:ext cx="82296" cy="82296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18169" y="4258894"/>
            <a:ext cx="82296" cy="82296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92740" y="3137306"/>
            <a:ext cx="82296" cy="82296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1435607" y="4978466"/>
            <a:ext cx="2274570" cy="7386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710177" y="4792446"/>
            <a:ext cx="2274571" cy="18602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984748" y="4300042"/>
            <a:ext cx="2274569" cy="492404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259317" y="3178454"/>
            <a:ext cx="2274571" cy="112158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394460" y="5030327"/>
            <a:ext cx="82296" cy="8229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669029" y="4975616"/>
            <a:ext cx="82296" cy="8229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43600" y="4860721"/>
            <a:ext cx="82296" cy="8229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18169" y="4614519"/>
            <a:ext cx="82296" cy="8229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492740" y="4204182"/>
            <a:ext cx="82296" cy="8229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1435607" y="5016764"/>
            <a:ext cx="2274570" cy="54711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710177" y="4901869"/>
            <a:ext cx="2274571" cy="114895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984748" y="4655667"/>
            <a:ext cx="2274569" cy="24620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259317" y="4245330"/>
            <a:ext cx="2274571" cy="410337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739127" y="1783080"/>
            <a:ext cx="109728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85431" y="1746504"/>
            <a:ext cx="1325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74151"/>
                </a:solidFill>
                <a:latin typeface="Microsoft YaHei"/>
              </a:rPr>
              <a:t>HF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56448" y="1783080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02752" y="1746504"/>
            <a:ext cx="1325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74151"/>
                </a:solidFill>
                <a:latin typeface="Microsoft YaHei"/>
              </a:rPr>
              <a:t>FT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73767" y="1783080"/>
            <a:ext cx="10972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20072" y="1746504"/>
            <a:ext cx="1325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74151"/>
                </a:solidFill>
                <a:latin typeface="Microsoft YaHei"/>
              </a:rPr>
              <a:t>vLLM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27248" y="5641848"/>
            <a:ext cx="2011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74151"/>
                </a:solidFill>
                <a:latin typeface="Microsoft YaHei"/>
              </a:rPr>
              <a:t>Sequence Length (tokens)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" y="1746504"/>
            <a:ext cx="10058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74151"/>
                </a:solidFill>
                <a:latin typeface="Microsoft YaHei"/>
              </a:rPr>
              <a:t>Latency (ms, 趋势示意)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23960" y="5413248"/>
            <a:ext cx="2057400" cy="34747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vLLM 曲线更平缓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Why vLLM changes serving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9611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结论与应用价值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42415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201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YaHei"/>
              </a:rPr>
              <a:t>8/8  |  Reference: Kwon et al., Efficient Memory Management for LLM Serving with PagedAttention, SOSP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07008"/>
            <a:ext cx="9418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74151"/>
                </a:solidFill>
                <a:latin typeface="Microsoft YaHei"/>
              </a:rPr>
              <a:t>PagedAttention 将 LLM Serving 的瓶颈从“KV Cache 内存不可控”转化为可调度、可复用、可分页的系统问题。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47088"/>
            <a:ext cx="2697480" cy="9875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2066543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91056" y="1993392"/>
            <a:ext cx="1783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2B4D"/>
                </a:solidFill>
                <a:latin typeface="Microsoft YaHei"/>
              </a:rPr>
              <a:t>High 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267712"/>
            <a:ext cx="1783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22-28x vs HF
2-3x vs 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47088"/>
            <a:ext cx="2697480" cy="9875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90872" y="2066543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2936" y="1993392"/>
            <a:ext cx="1783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2B4D"/>
                </a:solidFill>
                <a:latin typeface="Microsoft YaHei"/>
              </a:rPr>
              <a:t>Low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2267712"/>
            <a:ext cx="1783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长序列下时延增长更平缓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47088"/>
            <a:ext cx="2697480" cy="98755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2752" y="2066543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4816" y="1993392"/>
            <a:ext cx="1783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2B4D"/>
                </a:solidFill>
                <a:latin typeface="Microsoft YaHei"/>
              </a:rPr>
              <a:t>Memory Efficient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6" y="2267712"/>
            <a:ext cx="1783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KV Cache waste &lt;4%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41248" y="3273552"/>
          <a:ext cx="73152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788920"/>
                <a:gridCol w="3291840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54864" marR="54864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传统服务栈</a:t>
                      </a:r>
                    </a:p>
                  </a:txBody>
                  <a:tcPr marL="54864" marR="54864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vLLM / PagedAttention</a:t>
                      </a:r>
                    </a:p>
                  </a:txBody>
                  <a:tcPr marL="54864" marR="54864" marT="27432" marB="27432">
                    <a:solidFill>
                      <a:srgbClr val="2563E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吞吐量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HF 基线；FT 提升有限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HF 的 22-28x；FT 的 2-3x</a:t>
                      </a:r>
                    </a:p>
                  </a:txBody>
                  <a:tcPr marL="54864" marR="54864" marT="27432" marB="27432"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KV Cache 内存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连续预留，浪费 60%-80%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块式按需分配，浪费 &lt;4%</a:t>
                      </a:r>
                    </a:p>
                  </a:txBody>
                  <a:tcPr marL="54864" marR="54864" marT="27432" marB="27432"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长序列表现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Batch Size 受内存碎片限制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更平缓的时延增长曲线</a:t>
                      </a:r>
                    </a:p>
                  </a:txBody>
                  <a:tcPr marL="54864" marR="54864" marT="27432" marB="27432"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应用价值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高并发成本高、GPU 利用率低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72B4D"/>
                          </a:solidFill>
                          <a:latin typeface="Microsoft YaHei"/>
                        </a:rPr>
                        <a:t>更高 GPU 利用率与更低单位请求成本</a:t>
                      </a:r>
                    </a:p>
                  </a:txBody>
                  <a:tcPr marL="54864" marR="54864" marT="27432" marB="27432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41248" y="5696712"/>
            <a:ext cx="9921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40AF"/>
                </a:solidFill>
                <a:latin typeface="Microsoft YaHei"/>
              </a:rPr>
              <a:t>一句话总结：vLLM 通过 PagedAttention 把“GPU 内存碎片问题”转化为“分页映射问题”，从而提升吞吐并降低单位推理成本。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