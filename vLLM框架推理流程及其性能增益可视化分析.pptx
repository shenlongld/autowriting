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01  标题页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1_paged_memory_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204123"/>
            <a:ext cx="7635240" cy="494352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vLLM: 高性能显存管理与调度分析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主题：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vLLM: 针对大模型推理的高性能显存管理与调度分析。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核心摘要：</a:t>
            </a:r>
            <a:r>
              <a:rPr sz="1030" b="0">
                <a:solidFill>
                  <a:srgbClr val="5A6673"/>
                </a:solidFill>
                <a:latin typeface="Arial"/>
              </a:rPr>
              <a:t>本报告聚焦于 PagedAttention 技术，深入解析其如何通过非连续显存分配突破 LLM 推理的吞吐量瓶颈，并对推理全流程中的张量演变进行微观可视化。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02  内存痛点：KV Cache 碎片化微观分析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2_kv_fra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46116"/>
            <a:ext cx="7635240" cy="425954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KV Cache 碎片化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现状：</a:t>
            </a:r>
            <a:r>
              <a:rPr sz="1030" b="0">
                <a:solidFill>
                  <a:srgbClr val="5A6673"/>
                </a:solidFill>
                <a:latin typeface="Arial"/>
              </a:rPr>
              <a:t>LLM 生成长度不可预知，传统框架通常为每个请求分配最大长度的连续显存。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瓶颈：</a:t>
            </a:r>
            <a:r>
              <a:rPr sz="1030" b="0">
                <a:solidFill>
                  <a:srgbClr val="5A6673"/>
                </a:solidFill>
                <a:latin typeface="Arial"/>
              </a:rPr>
              <a:t>静态分配导致内部碎片、外部碎片与预留浪费并存，直接压缩可承载 Batch Size。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公式：</a:t>
            </a:r>
            <a:r>
              <a:rPr sz="1030" b="0">
                <a:solidFill>
                  <a:srgbClr val="5A6673"/>
                </a:solidFill>
                <a:latin typeface="Arial"/>
              </a:rPr>
              <a:t>Waste = sum_i(max_len - len_i) * 2 * n_layers * H_kv * d_head * bytes。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对比：</a:t>
            </a:r>
            <a:r>
              <a:rPr sz="1030" b="0">
                <a:solidFill>
                  <a:srgbClr val="5A6673"/>
                </a:solidFill>
                <a:latin typeface="Arial"/>
              </a:rPr>
              <a:t>传统显存利用率常落在 20%-40%，vLLM 通过块式复用可提升至 &gt;96%。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03  推理流程 (I)：Prefill 阶段的张量与块分配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3_prefill_bl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13" y="877824"/>
            <a:ext cx="7634717" cy="5596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Prefill: 张量到块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输入转换：</a:t>
            </a:r>
            <a:r>
              <a:rPr sz="1030" b="0">
                <a:solidFill>
                  <a:srgbClr val="5A6673"/>
                </a:solidFill>
                <a:latin typeface="Arial"/>
              </a:rPr>
              <a:t>用户 Prompt 经过一次性前向计算，产生初始 Q/K/V 张量与可复用 KV Cache。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分块逻辑：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根据逻辑索引 floor(token_id / block_size) 将连续序列切片，典型 Block Size=16。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维度演变：</a:t>
            </a:r>
            <a:r>
              <a:rPr sz="1030" b="0">
                <a:solidFill>
                  <a:srgbClr val="5A6673"/>
                </a:solidFill>
                <a:latin typeface="Arial"/>
              </a:rPr>
              <a:t>X_prompt: [B,S_prompt,d_model] -&gt; K/V: [L,H_kv,S_prompt,d_head] -&gt; physical blocks P_i。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状态：</a:t>
            </a:r>
            <a:r>
              <a:rPr sz="1030" b="0">
                <a:solidFill>
                  <a:srgbClr val="5A6673"/>
                </a:solidFill>
                <a:latin typeface="Arial"/>
              </a:rPr>
              <a:t>显存池按需分块，避免传统方式下一次性全量预留最大序列长度。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04  推理流程 (II)：Decoding 阶段的 Slot 填充细节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4_decoding_slot_f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13" y="877824"/>
            <a:ext cx="7634717" cy="5596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Decoding: Slot 级写入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步进机制：</a:t>
            </a:r>
            <a:r>
              <a:rPr sz="1030" b="0">
                <a:solidFill>
                  <a:srgbClr val="5A6673"/>
                </a:solidFill>
                <a:latin typeface="Arial"/>
              </a:rPr>
              <a:t>每次迭代仅产生一个新 Token 及其对应 K_t/V_t。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精准插入：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无需重排历史 KV，只通过 Block Table 找到当前未满物理块并写入指定 Slot。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地址偏移：</a:t>
            </a:r>
            <a:r>
              <a:rPr sz="1030" b="0">
                <a:solidFill>
                  <a:srgbClr val="5A6673"/>
                </a:solidFill>
                <a:latin typeface="Arial"/>
              </a:rPr>
              <a:t>slot_id = t mod B；addr = base(P_b) + slot_id * bytes(KV_token)。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维度演变：</a:t>
            </a:r>
            <a:r>
              <a:rPr sz="1030" b="0">
                <a:solidFill>
                  <a:srgbClr val="5A6673"/>
                </a:solidFill>
                <a:latin typeface="Arial"/>
              </a:rPr>
              <a:t>KV Cache 逻辑长度从 T 增加到 T+1，物理上仅增加一个 Slot 的存储开销。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05  推理流程 (III)：PagedAttention 查找逻辑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5_paged_attention_loo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013" y="877824"/>
            <a:ext cx="7634717" cy="5596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PagedAttention 查表访问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内存访问：</a:t>
            </a:r>
            <a:r>
              <a:rPr sz="1030" b="0">
                <a:solidFill>
                  <a:srgbClr val="5A6673"/>
                </a:solidFill>
                <a:latin typeface="Arial"/>
              </a:rPr>
              <a:t>Attention 计算不再假设连续物理地址，而是通过 Block Table 将逻辑块跳转到物理块。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技术优势：</a:t>
            </a:r>
            <a:r>
              <a:rPr sz="1030" b="0">
                <a:solidFill>
                  <a:srgbClr val="5A6673"/>
                </a:solidFill>
                <a:latin typeface="Arial"/>
              </a:rPr>
              <a:t>该机制类似操作系统虚拟内存，在物理显存碎片化时仍维持逻辑序列连续。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工程含义：</a:t>
            </a:r>
            <a:r>
              <a:rPr sz="1030" b="0">
                <a:solidFill>
                  <a:srgbClr val="5A6673"/>
                </a:solidFill>
                <a:latin typeface="Arial"/>
              </a:rPr>
              <a:t>请求可共享、复制或释放块，调度器可以用更细粒度管理正在生成的序列。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06  性能增益：吞吐量与并发度的阶梯增长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6_throughput_la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374306"/>
            <a:ext cx="7635240" cy="46031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吞吐量与并发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吞吐量增益：</a:t>
            </a:r>
            <a:r>
              <a:rPr sz="1030" b="0">
                <a:solidFill>
                  <a:srgbClr val="5A6673"/>
                </a:solidFill>
                <a:latin typeface="Arial"/>
              </a:rPr>
              <a:t>公开报告中 vLLM 相比 HuggingFace 通常实现 10-24 倍吞吐量提升。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Batching 策略：</a:t>
            </a:r>
            <a:r>
              <a:rPr sz="1030" b="0">
                <a:solidFill>
                  <a:srgbClr val="5A6673"/>
                </a:solidFill>
                <a:latin typeface="Arial"/>
              </a:rPr>
              <a:t>Continuous Batching 允许请求完成后立即释放块并插入新请求，提高 GPU 活跃度。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OOM 边界：</a:t>
            </a:r>
            <a:r>
              <a:rPr sz="1030" b="0">
                <a:solidFill>
                  <a:srgbClr val="5A6673"/>
                </a:solidFill>
                <a:latin typeface="Arial"/>
              </a:rPr>
              <a:t>HF 在并发上升时更早触及显存上限，vLLM 因碎片化低而保持近线性扩展。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07  性能增益：长序列下的内存稳定性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7_memory_st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" y="1519771"/>
            <a:ext cx="7635240" cy="431223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长序列显存稳定性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显存效率：</a:t>
            </a:r>
            <a:r>
              <a:rPr sz="1030" b="0">
                <a:solidFill>
                  <a:srgbClr val="5A6673"/>
                </a:solidFill>
                <a:latin typeface="Arial"/>
              </a:rPr>
              <a:t>通过极低碎片化率（&lt;4%），vLLM 在 80GB A100 上可容纳比基准更多的并发任务。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线性增长：</a:t>
            </a:r>
            <a:r>
              <a:rPr sz="1030" b="0">
                <a:solidFill>
                  <a:srgbClr val="5A6673"/>
                </a:solidFill>
                <a:latin typeface="Arial"/>
              </a:rPr>
              <a:t>显存占用主要随真实 Token 数增长，而非随最大预留长度跳变。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场景价值：</a:t>
            </a:r>
            <a:r>
              <a:rPr sz="1030" b="0">
                <a:solidFill>
                  <a:srgbClr val="5A6673"/>
                </a:solidFill>
                <a:latin typeface="Arial"/>
              </a:rPr>
              <a:t>长文本、多轮对话和检索增强生成场景中，单 Token 推理成本下降更明显。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4169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256032"/>
            <a:ext cx="116128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F2933"/>
                </a:solidFill>
                <a:latin typeface="Arial"/>
              </a:rPr>
              <a:t>08  结论与工程意义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749808"/>
            <a:ext cx="11567160" cy="18288"/>
          </a:xfrm>
          <a:prstGeom prst="rect">
            <a:avLst/>
          </a:prstGeom>
          <a:solidFill>
            <a:srgbClr val="D7D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lide_08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876" y="877824"/>
            <a:ext cx="5022991" cy="5596128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156448" y="877824"/>
            <a:ext cx="3730752" cy="5596128"/>
          </a:xfrm>
          <a:prstGeom prst="roundRect">
            <a:avLst/>
          </a:prstGeom>
          <a:solidFill>
            <a:srgbClr val="F7F9FB"/>
          </a:solidFill>
          <a:ln w="1270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39327" y="1033271"/>
            <a:ext cx="3364992" cy="528523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>
              <a:spcAft>
                <a:spcPts val="800"/>
              </a:spcAft>
            </a:pPr>
            <a:r>
              <a:rPr sz="1520" b="1">
                <a:solidFill>
                  <a:srgbClr val="4169E1"/>
                </a:solidFill>
                <a:latin typeface="Arial"/>
              </a:rPr>
              <a:t>结论与展望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技术总结：</a:t>
            </a:r>
            <a:r>
              <a:rPr sz="1030" b="0">
                <a:solidFill>
                  <a:srgbClr val="5A6673"/>
                </a:solidFill>
                <a:latin typeface="Arial"/>
              </a:rPr>
              <a:t>vLLM 通过 PagedAttention 将 KV Cache 管理从连续大块分配转为页式块管理，缓解 LLM 推理的内存墙。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工程意义：</a:t>
            </a:r>
            <a:r>
              <a:rPr sz="1030" b="0">
                <a:solidFill>
                  <a:srgbClr val="5A6673"/>
                </a:solidFill>
                <a:latin typeface="Arial"/>
              </a:rPr>
              <a:t>更高 Batch Size、更稳定并发和更低碎片化共同转化为吞吐量、成本与服务弹性的提升。</a:t>
            </a:r>
          </a:p>
          <a:p>
            <a:pPr>
              <a:lnSpc>
                <a:spcPct val="102000"/>
              </a:lnSpc>
              <a:spcBef>
                <a:spcPts val="400"/>
              </a:spcBef>
              <a:spcAft>
                <a:spcPts val="200"/>
              </a:spcAft>
            </a:pPr>
            <a:r>
              <a:rPr sz="1060" b="1">
                <a:solidFill>
                  <a:srgbClr val="1F2933"/>
                </a:solidFill>
                <a:latin typeface="Arial"/>
              </a:rPr>
              <a:t>未来展望：</a:t>
            </a:r>
            <a:r>
              <a:rPr sz="1030" b="0">
                <a:solidFill>
                  <a:srgbClr val="5A6673"/>
                </a:solidFill>
                <a:latin typeface="Arial"/>
              </a:rPr>
              <a:t>面向多模态 VLM 与更大规模 Speculative Decoding，页式显存管理仍是核心基础设施。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" y="6537960"/>
            <a:ext cx="1147572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80" b="0">
                <a:solidFill>
                  <a:srgbClr val="5A6673"/>
                </a:solidFill>
                <a:latin typeface="Arial"/>
              </a:rPr>
              <a:t>vLLM inference pipeline and performance visualization | Academic schematic, normalized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